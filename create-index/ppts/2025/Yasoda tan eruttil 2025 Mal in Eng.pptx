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4589" autoAdjust="0"/>
    <p:restoredTop sz="86441" autoAdjust="0"/>
  </p:normalViewPr>
  <p:slideViewPr>
    <p:cSldViewPr>
      <p:cViewPr varScale="1">
        <p:scale>
          <a:sx n="53" d="100"/>
          <a:sy n="53" d="100"/>
        </p:scale>
        <p:origin x="-72" y="-2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066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rtl="0"/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my pleasure! Both poems use beautiful, traditional Malayalam words that carry a lot of cultural flavor. Here are the specific terms you asked about, along with a few other gems from the verses.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Eruthu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എരുത്ത്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poem, it refers to a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cowshed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a stable for cattle.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Cultural Context: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traditional Kerala homes, the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eruthu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 often a part of the house structure or very close to it, signifying that cattle were treated like family members.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Pichchavachchu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പിച്ചവച്ച്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a charming term used to describe a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toddler’s first shaky steps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Literal Meaning: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Pichcha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refers to the small, hesitant steps a baby takes. When we say a baby is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pichchavachu</a:t>
            </a:r>
            <a:r>
              <a:rPr lang="en-US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nadakkunnu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it paints a picture of that adorable, wobbly walk before they gain full balance.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Interesting Words from the Poems: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Kaṇmaṇi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കൺമണി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Literally translates to "Apple of the eye" (Pupil). It is a common term of endearment for children, meaning someone precious.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Paikkiṭāvu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പൈക്കിടാവ്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compound word.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(Cow) +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Kidavu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(Young one). It specifically means a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calf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Veḷḷāraṃ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Kallu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വെള്ളാരം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കല്ല്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These are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quartz pebbles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smooth white stones often found in riverbeds. The poem uses this to describe the calf's white, strong teeth.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Māmuṇṇuka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മാമുണ്ണുക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"baby talk" (Child-directed speech),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Māmu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means food/rice.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Uṇṇuka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means to eat. So, it means "to have your meal."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Thañchattil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തഞ്ചത്തി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ൽ):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This means doing something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gently, skillfully, or with care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Yashoda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picks up Krishna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thanchathil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as not to startle or hurt him.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Vimmi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vithumpi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വിമ്മി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വിതുമ്പി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This describes a specific type of crying—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sobbing with hiccups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gasping for breath, typical of a child who is deeply upset.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Note on the Folk Rhythm:</a:t>
            </a:r>
          </a:p>
          <a:p>
            <a:pPr rtl="0"/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phrases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Tannārō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Teyyattārō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Vaithari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(rhythmic syllables). They don't have a dictionary meaning, but they set the 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Thalam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(beat).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Tannārō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usually associated with </a:t>
            </a:r>
            <a:r>
              <a:rPr lang="en-US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Vanchippattu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(boat songs) or gentle swinging.</a:t>
            </a:r>
          </a:p>
          <a:p>
            <a:pPr rtl="0"/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Teyyattārō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a slightly more "theatrical" or "dance-like" 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yaśōda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taṉ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eruttil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oru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nāḷ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Malayalam in English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>
                <a:cs typeface="Rachana" pitchFamily="2" charset="0"/>
              </a:rPr>
              <a:t>yaśōda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taṉ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eruttil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oru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nāḷ</a:t>
            </a:r>
            <a:r>
              <a:rPr lang="en-US" sz="5400" dirty="0" smtClean="0">
                <a:cs typeface="Rachana" pitchFamily="2" charset="0"/>
              </a:rPr>
              <a:t/>
            </a:r>
            <a:br>
              <a:rPr lang="en-US" sz="5400" dirty="0" smtClean="0">
                <a:cs typeface="Rachana" pitchFamily="2" charset="0"/>
              </a:rPr>
            </a:br>
            <a:r>
              <a:rPr lang="en-US" sz="5400" dirty="0" err="1" smtClean="0">
                <a:cs typeface="Rachana" pitchFamily="2" charset="0"/>
              </a:rPr>
              <a:t>kaṟumbippaśuvuṇṭu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kuññiḷam</a:t>
            </a:r>
            <a:r>
              <a:rPr lang="en-US" sz="5400" dirty="0" smtClean="0">
                <a:cs typeface="Rachana" pitchFamily="2" charset="0"/>
              </a:rPr>
              <a:t/>
            </a:r>
            <a:br>
              <a:rPr lang="en-US" sz="5400" dirty="0" smtClean="0">
                <a:cs typeface="Rachana" pitchFamily="2" charset="0"/>
              </a:rPr>
            </a:br>
            <a:r>
              <a:rPr lang="en-US" sz="5400" dirty="0" err="1" smtClean="0">
                <a:cs typeface="Rachana" pitchFamily="2" charset="0"/>
              </a:rPr>
              <a:t>paikkiṭāvonniṉaṅṅu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āmōdaṃ</a:t>
            </a:r>
            <a:r>
              <a:rPr lang="en-US" sz="5400" dirty="0" smtClean="0">
                <a:cs typeface="Rachana" pitchFamily="2" charset="0"/>
              </a:rPr>
              <a:t/>
            </a:r>
            <a:br>
              <a:rPr lang="en-US" sz="5400" dirty="0" smtClean="0">
                <a:cs typeface="Rachana" pitchFamily="2" charset="0"/>
              </a:rPr>
            </a:br>
            <a:r>
              <a:rPr lang="en-US" sz="5400" dirty="0" err="1" smtClean="0">
                <a:cs typeface="Rachana" pitchFamily="2" charset="0"/>
              </a:rPr>
              <a:t>janmaṃ</a:t>
            </a:r>
            <a:r>
              <a:rPr lang="en-US" sz="5400" dirty="0" smtClean="0">
                <a:cs typeface="Rachana" pitchFamily="2" charset="0"/>
              </a:rPr>
              <a:t> </a:t>
            </a:r>
            <a:r>
              <a:rPr lang="en-US" sz="5400" dirty="0" err="1" smtClean="0">
                <a:cs typeface="Rachana" pitchFamily="2" charset="0"/>
              </a:rPr>
              <a:t>nalkiyallō</a:t>
            </a:r>
            <a:endParaRPr lang="en-US" sz="3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5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One day, in </a:t>
            </a:r>
            <a:r>
              <a:rPr lang="en-US" sz="5400" dirty="0" err="1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Yashoda's</a:t>
            </a:r>
            <a:r>
              <a:rPr lang="en-US" sz="5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 cowshed, a black cow joyfully gave birth to a tiny, young calf.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pichchavachchu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naṭakkum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kaṇṇanō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tattikkaḷichchu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chennu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toḻuttil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paikkiṭākkaṟumbane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nōkki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mandahasichchuvallō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8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Little Krishna, who was just learning to take his first toddling steps, waddled playfully into the cowshed. He looked at the little black calf and smiled.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teyyattārō</a:t>
            </a:r>
            <a:r>
              <a:rPr lang="en-US" sz="4800" dirty="0" smtClean="0">
                <a:cs typeface="Rachana" pitchFamily="2" charset="0"/>
              </a:rPr>
              <a:t> taka </a:t>
            </a:r>
            <a:r>
              <a:rPr lang="en-US" sz="4800" dirty="0" err="1" smtClean="0">
                <a:cs typeface="Rachana" pitchFamily="2" charset="0"/>
              </a:rPr>
              <a:t>tōm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teyyārō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teyyattārō</a:t>
            </a:r>
            <a:r>
              <a:rPr lang="en-US" sz="4800" dirty="0" smtClean="0">
                <a:cs typeface="Rachana" pitchFamily="2" charset="0"/>
              </a:rPr>
              <a:t> taka </a:t>
            </a:r>
            <a:r>
              <a:rPr lang="en-US" sz="4800" dirty="0" err="1" smtClean="0">
                <a:cs typeface="Rachana" pitchFamily="2" charset="0"/>
              </a:rPr>
              <a:t>tōm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teyyattārō</a:t>
            </a:r>
            <a:r>
              <a:rPr lang="en-US" sz="4800" dirty="0" smtClean="0">
                <a:cs typeface="Rachana" pitchFamily="2" charset="0"/>
              </a:rPr>
              <a:t> taka </a:t>
            </a:r>
            <a:r>
              <a:rPr lang="en-US" sz="4800" dirty="0" err="1" smtClean="0">
                <a:cs typeface="Rachana" pitchFamily="2" charset="0"/>
              </a:rPr>
              <a:t>tōm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teyyārō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teyyattārō</a:t>
            </a:r>
            <a:r>
              <a:rPr lang="en-US" sz="4800" dirty="0" smtClean="0">
                <a:cs typeface="Rachana" pitchFamily="2" charset="0"/>
              </a:rPr>
              <a:t> taka </a:t>
            </a:r>
            <a:r>
              <a:rPr lang="en-US" sz="4800" dirty="0" err="1" smtClean="0">
                <a:cs typeface="Rachana" pitchFamily="2" charset="0"/>
              </a:rPr>
              <a:t>tōm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8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(Rhythmic folk syllables used for the beat of the song.)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muttukaḷ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pōluḷḷa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mūṉṉu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kuññari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ppallukaḷ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kaṇṭiṭṭā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paikkiṭākkaṟumbanō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kaṇṇane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nōkkichirichchuvallō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Seeing Krishna’s three tiny teeth that looked like little pearls or grains of rice, the little black calf looked at Krishna and "laughed" (mooed) back.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paikkiṭāviṉ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vāya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niṟaye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veḷḷāraṃ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kallukaḷ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pōle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pallukaḷ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kaṇṭiṭṭu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ponnuṇṇi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viṅṅikkaraññuvallō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But when the golden child (Krishna) saw that the calf’s mouth was full of teeth that looked like white pebbles, he began to sob bitterly.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viṅṅikkaraññiṭum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kaṇṇane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vāriyeṭuttaṅṅu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yaśōda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kaṇṇunīr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tuṭachchu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ponnuṇṇī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entināy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kēṇiṭunnu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err="1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Yashoda</a:t>
            </a: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 scooped up the sobbing Krishna in her arms. Wiping away his tears, she asked, "My golden baby, why are you crying so hard?"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ammatan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kaṇṇukaḷil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nōkki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kaṇṇanum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cholliyappōḷ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ammē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paiykiṭāviṉ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vāya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niṟaye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pallukaḷ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nōkkū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atā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Looking into his mother's eyes, Krishna said, "Mother, look at that calf! Its mouth is completely full of teeth!"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ammatan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uṇṇikku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ippōḷ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vayas'su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raṇṭāyi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ituvare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mūnnē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pallukaḷ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vannuḷḷū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nāṇakkēṭāyillē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"Your little boy is already two years old, but so far only three teeth have come in. Isn't it a shame (embarrassing), Mother?"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eṉṟuṇṇi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vaḷarumpōḷ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vāyil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mullappū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moṭṭukaḷ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pōl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pallukaḷ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nirannu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śōbhichchiṭuṃ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ponnuṇṇi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sundarakkuṭṭanākum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</a:t>
            </a:r>
            <a:r>
              <a:rPr lang="en-US" sz="4400" dirty="0" err="1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Yashoda</a:t>
            </a: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 comforted him:) "When my baby grows up, teeth like jasmine buds will line up and shine in your mouth. My golden boy will be the most handsome child of all."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>
                <a:cs typeface="Rachana" pitchFamily="2" charset="0"/>
              </a:rPr>
              <a:t>eṉṟuṇṇi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vaḷarumpōḷ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vāyil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mullappū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moṭṭukaḷ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pōl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pallukaḷ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nirannu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śōbhichchiṭuṃ</a:t>
            </a:r>
            <a:r>
              <a:rPr lang="en-US" sz="4800" dirty="0" smtClean="0">
                <a:cs typeface="Rachana" pitchFamily="2" charset="0"/>
              </a:rPr>
              <a:t> </a:t>
            </a:r>
            <a:r>
              <a:rPr lang="en-US" sz="4800" dirty="0" err="1" smtClean="0">
                <a:cs typeface="Rachana" pitchFamily="2" charset="0"/>
              </a:rPr>
              <a:t>ponnuṇṇi</a:t>
            </a:r>
            <a:r>
              <a:rPr lang="en-US" sz="4800" dirty="0" smtClean="0">
                <a:cs typeface="Rachana" pitchFamily="2" charset="0"/>
              </a:rPr>
              <a:t/>
            </a:r>
            <a:br>
              <a:rPr lang="en-US" sz="4800" dirty="0" smtClean="0">
                <a:cs typeface="Rachana" pitchFamily="2" charset="0"/>
              </a:rPr>
            </a:br>
            <a:r>
              <a:rPr lang="en-US" sz="4800" dirty="0" err="1" smtClean="0">
                <a:cs typeface="Rachana" pitchFamily="2" charset="0"/>
              </a:rPr>
              <a:t>sundarakkuṭṭanākum</a:t>
            </a:r>
            <a:endParaRPr lang="en-US" sz="2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</a:t>
            </a:r>
            <a:r>
              <a:rPr lang="en-US" sz="4400" dirty="0" err="1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Yashoda</a:t>
            </a:r>
            <a:r>
              <a:rPr lang="en-US" sz="44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 comforted him:) "When my baby grows up, teeth like jasmine buds will line up and shine in your mouth. My golden boy will be the most handsome child of all."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728</Words>
  <Application>Microsoft Office PowerPoint</Application>
  <PresentationFormat>On-screen Show (4:3)</PresentationFormat>
  <Paragraphs>42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yaśōda taṉ eruttil oru nāḷ</vt:lpstr>
      <vt:lpstr>yaśōda taṉ eruttil oru nāḷ kaṟumbippaśuvuṇṭu kuññiḷam paikkiṭāvonniṉaṅṅu āmōdaṃ janmaṃ nalkiyallō</vt:lpstr>
      <vt:lpstr>pichchavachchu naṭakkum kaṇṇanō tattikkaḷichchu chennu toḻuttil paikkiṭākkaṟumbane nōkki mandahasichchuvallō</vt:lpstr>
      <vt:lpstr>teyyattārō taka tōm teyyārō teyyattārō taka tōm teyyattārō taka tōm teyyārō teyyattārō taka tōm</vt:lpstr>
      <vt:lpstr>muttukaḷ pōluḷḷa mūṉṉu kuññari ppallukaḷ kaṇṭiṭṭā paikkiṭākkaṟumbanō kaṇṇane nōkkichirichchuvallō</vt:lpstr>
      <vt:lpstr>paikkiṭāviṉ vāya niṟaye veḷḷāraṃ kallukaḷ pōle pallukaḷ kaṇṭiṭṭu ponnuṇṇi viṅṅikkaraññuvallō</vt:lpstr>
      <vt:lpstr>viṅṅikkaraññiṭum kaṇṇane vāriyeṭuttaṅṅu yaśōda kaṇṇunīr tuṭachchu ponnuṇṇī entināy kēṇiṭunnu</vt:lpstr>
      <vt:lpstr>ammatan kaṇṇukaḷil nōkki kaṇṇanum cholliyappōḷ ammē paiykiṭāviṉ vāya niṟaye pallukaḷ nōkkū atā</vt:lpstr>
      <vt:lpstr>ammatan uṇṇikku ippōḷ vayas'su raṇṭāyi ituvare mūnnē pallukaḷ vannuḷḷū nāṇakkēṭāyillē</vt:lpstr>
      <vt:lpstr>eṉṟuṇṇi vaḷarumpōḷ vāyil mullappū moṭṭukaḷ pōl pallukaḷ nirannu śōbhichchiṭuṃ ponnuṇṇi sundarakkuṭṭanākum</vt:lpstr>
      <vt:lpstr>eṉṟuṇṇi vaḷarumpōḷ vāyil mullappū moṭṭukaḷ pōl pallukaḷ nirannu śōbhichchiṭuṃ ponnuṇṇi sundarakkuṭṭanākum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326</cp:revision>
  <dcterms:created xsi:type="dcterms:W3CDTF">2006-08-16T00:00:00Z</dcterms:created>
  <dcterms:modified xsi:type="dcterms:W3CDTF">2025-12-24T08:31:55Z</dcterms:modified>
</cp:coreProperties>
</file>