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109" d="100"/>
          <a:sy n="109" d="100"/>
        </p:scale>
        <p:origin x="-1674" y="-8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CEF309-73FA-4C2C-A867-D236759037CB}" type="datetimeFigureOut">
              <a:rPr lang="en-US" smtClean="0"/>
              <a:t>8/30/2025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66CB7A-3713-4E63-8BF4-C3FFBF432883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CEF309-73FA-4C2C-A867-D236759037CB}" type="datetimeFigureOut">
              <a:rPr lang="en-US" smtClean="0"/>
              <a:t>8/30/2025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66CB7A-3713-4E63-8BF4-C3FFBF432883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CEF309-73FA-4C2C-A867-D236759037CB}" type="datetimeFigureOut">
              <a:rPr lang="en-US" smtClean="0"/>
              <a:t>8/30/2025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66CB7A-3713-4E63-8BF4-C3FFBF432883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CEF309-73FA-4C2C-A867-D236759037CB}" type="datetimeFigureOut">
              <a:rPr lang="en-US" smtClean="0"/>
              <a:t>8/30/2025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66CB7A-3713-4E63-8BF4-C3FFBF432883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CEF309-73FA-4C2C-A867-D236759037CB}" type="datetimeFigureOut">
              <a:rPr lang="en-US" smtClean="0"/>
              <a:t>8/30/2025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66CB7A-3713-4E63-8BF4-C3FFBF432883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CEF309-73FA-4C2C-A867-D236759037CB}" type="datetimeFigureOut">
              <a:rPr lang="en-US" smtClean="0"/>
              <a:t>8/30/2025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66CB7A-3713-4E63-8BF4-C3FFBF432883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CEF309-73FA-4C2C-A867-D236759037CB}" type="datetimeFigureOut">
              <a:rPr lang="en-US" smtClean="0"/>
              <a:t>8/30/2025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66CB7A-3713-4E63-8BF4-C3FFBF432883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CEF309-73FA-4C2C-A867-D236759037CB}" type="datetimeFigureOut">
              <a:rPr lang="en-US" smtClean="0"/>
              <a:t>8/30/2025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66CB7A-3713-4E63-8BF4-C3FFBF432883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CEF309-73FA-4C2C-A867-D236759037CB}" type="datetimeFigureOut">
              <a:rPr lang="en-US" smtClean="0"/>
              <a:t>8/30/2025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66CB7A-3713-4E63-8BF4-C3FFBF432883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CEF309-73FA-4C2C-A867-D236759037CB}" type="datetimeFigureOut">
              <a:rPr lang="en-US" smtClean="0"/>
              <a:t>8/30/2025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66CB7A-3713-4E63-8BF4-C3FFBF432883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CEF309-73FA-4C2C-A867-D236759037CB}" type="datetimeFigureOut">
              <a:rPr lang="en-US" smtClean="0"/>
              <a:t>8/30/2025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66CB7A-3713-4E63-8BF4-C3FFBF432883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6CEF309-73FA-4C2C-A867-D236759037CB}" type="datetimeFigureOut">
              <a:rPr lang="en-US" smtClean="0"/>
              <a:t>8/30/2025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F66CB7A-3713-4E63-8BF4-C3FFBF432883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en-US" sz="6600" smtClean="0">
                <a:solidFill>
                  <a:srgbClr val="FFFFFF"/>
                </a:solidFill>
                <a:latin typeface="Calibri"/>
              </a:rPr>
              <a:t>sakhī rī lāj </a:t>
            </a:r>
            <a:endParaRPr lang="en-US" sz="660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en-US" sz="6600" smtClean="0">
                <a:solidFill>
                  <a:srgbClr val="FFFF00"/>
                </a:solidFill>
                <a:latin typeface="Calibri"/>
              </a:rPr>
              <a:t>2025</a:t>
            </a:r>
          </a:p>
          <a:p>
            <a:r>
              <a:rPr lang="en-US" sz="6600" smtClean="0">
                <a:solidFill>
                  <a:srgbClr val="FFFF00"/>
                </a:solidFill>
                <a:latin typeface="Calibri"/>
              </a:rPr>
              <a:t>(Hindi)</a:t>
            </a:r>
            <a:endParaRPr lang="en-US" sz="6600">
              <a:solidFill>
                <a:srgbClr val="FFFF00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en-US" sz="6600" smtClean="0">
                <a:solidFill>
                  <a:srgbClr val="FFFFFF"/>
                </a:solidFill>
                <a:latin typeface="Calibri"/>
              </a:rPr>
              <a:t>sakhī rī lāj bairaṇ bhayi</a:t>
            </a:r>
            <a:br>
              <a:rPr lang="en-US" sz="6600" smtClean="0">
                <a:solidFill>
                  <a:srgbClr val="FFFFFF"/>
                </a:solidFill>
                <a:latin typeface="Calibri"/>
              </a:rPr>
            </a:br>
            <a:r>
              <a:rPr lang="en-US" sz="6600" smtClean="0">
                <a:solidFill>
                  <a:srgbClr val="FFFFFF"/>
                </a:solidFill>
                <a:latin typeface="Calibri"/>
              </a:rPr>
              <a:t>śrī lāl gōpāl kē saṅg</a:t>
            </a:r>
            <a:endParaRPr lang="en-US" sz="660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en-US" sz="5600" smtClean="0">
                <a:solidFill>
                  <a:srgbClr val="FFFF00"/>
                </a:solidFill>
                <a:latin typeface="Calibri"/>
              </a:rPr>
              <a:t>O friend, modesty has become my enemy; in the company of my beloved Gopal,</a:t>
            </a:r>
            <a:endParaRPr lang="en-US" sz="5600">
              <a:solidFill>
                <a:srgbClr val="FFFF00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en-US" sz="6600" smtClean="0">
                <a:solidFill>
                  <a:srgbClr val="FFFFFF"/>
                </a:solidFill>
                <a:latin typeface="Calibri"/>
              </a:rPr>
              <a:t>kahē nā… hīgayi</a:t>
            </a:r>
            <a:br>
              <a:rPr lang="en-US" sz="6600" smtClean="0">
                <a:solidFill>
                  <a:srgbClr val="FFFFFF"/>
                </a:solidFill>
                <a:latin typeface="Calibri"/>
              </a:rPr>
            </a:br>
            <a:r>
              <a:rPr lang="en-US" sz="6600" smtClean="0">
                <a:solidFill>
                  <a:srgbClr val="FFFFFF"/>
                </a:solidFill>
                <a:latin typeface="Calibri"/>
              </a:rPr>
              <a:t>sakhī rī lāj bairaṇ bhayi</a:t>
            </a:r>
            <a:endParaRPr lang="en-US" sz="660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en-US" sz="6600" smtClean="0">
                <a:solidFill>
                  <a:srgbClr val="FFFF00"/>
                </a:solidFill>
                <a:latin typeface="Calibri"/>
              </a:rPr>
              <a:t>I could no longer remain silent. O friend, modesty has become my enemy.</a:t>
            </a:r>
            <a:endParaRPr lang="en-US" sz="6600">
              <a:solidFill>
                <a:srgbClr val="FFFF00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en-US" sz="6600" smtClean="0">
                <a:solidFill>
                  <a:srgbClr val="FFFFFF"/>
                </a:solidFill>
                <a:latin typeface="Calibri"/>
              </a:rPr>
              <a:t>calan cāhat gōkul hī tē</a:t>
            </a:r>
            <a:br>
              <a:rPr lang="en-US" sz="6600" smtClean="0">
                <a:solidFill>
                  <a:srgbClr val="FFFFFF"/>
                </a:solidFill>
                <a:latin typeface="Calibri"/>
              </a:rPr>
            </a:br>
            <a:r>
              <a:rPr lang="en-US" sz="6600" smtClean="0">
                <a:solidFill>
                  <a:srgbClr val="FFFFFF"/>
                </a:solidFill>
                <a:latin typeface="Calibri"/>
              </a:rPr>
              <a:t>rath sajāyō nāhīṅ</a:t>
            </a:r>
            <a:endParaRPr lang="en-US" sz="660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en-US" sz="6600" smtClean="0">
                <a:solidFill>
                  <a:srgbClr val="FFFF00"/>
                </a:solidFill>
                <a:latin typeface="Calibri"/>
              </a:rPr>
              <a:t>He wished to depart for Gokul, but the chariot was not yet decorated.</a:t>
            </a:r>
            <a:endParaRPr lang="en-US" sz="6600">
              <a:solidFill>
                <a:srgbClr val="FFFF00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en-US" sz="6600" smtClean="0">
                <a:solidFill>
                  <a:srgbClr val="FFFFFF"/>
                </a:solidFill>
                <a:latin typeface="Calibri"/>
              </a:rPr>
              <a:t>rath caḍhāyē gōpāl lai gayō </a:t>
            </a:r>
            <a:br>
              <a:rPr lang="en-US" sz="6600" smtClean="0">
                <a:solidFill>
                  <a:srgbClr val="FFFFFF"/>
                </a:solidFill>
                <a:latin typeface="Calibri"/>
              </a:rPr>
            </a:br>
            <a:r>
              <a:rPr lang="en-US" sz="6600" smtClean="0">
                <a:solidFill>
                  <a:srgbClr val="FFFFFF"/>
                </a:solidFill>
                <a:latin typeface="Calibri"/>
              </a:rPr>
              <a:t>hāth miñjat rahī</a:t>
            </a:r>
            <a:endParaRPr lang="en-US" sz="660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en-US" sz="5900" smtClean="0">
                <a:solidFill>
                  <a:srgbClr val="FFFF00"/>
                </a:solidFill>
                <a:latin typeface="Calibri"/>
              </a:rPr>
              <a:t>Yet Gopal mounted it and was carried away, while I was still just clutching his hand.</a:t>
            </a:r>
            <a:endParaRPr lang="en-US" sz="5900">
              <a:solidFill>
                <a:srgbClr val="FFFF00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en-US" sz="6600" smtClean="0">
                <a:solidFill>
                  <a:srgbClr val="FFFFFF"/>
                </a:solidFill>
                <a:latin typeface="Calibri"/>
              </a:rPr>
              <a:t>sakhī rī lāj bairaṇ bhayi</a:t>
            </a:r>
            <a:endParaRPr lang="en-US" sz="660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en-US" sz="6600" smtClean="0">
                <a:solidFill>
                  <a:srgbClr val="FFFF00"/>
                </a:solidFill>
                <a:latin typeface="Calibri"/>
              </a:rPr>
              <a:t>O friend, modesty has become my enemy.</a:t>
            </a:r>
            <a:endParaRPr lang="en-US" sz="6600">
              <a:solidFill>
                <a:srgbClr val="FFFF00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en-US" sz="6600" smtClean="0">
                <a:solidFill>
                  <a:srgbClr val="FFFFFF"/>
                </a:solidFill>
                <a:latin typeface="Calibri"/>
              </a:rPr>
              <a:t>kaṭhin chātī śyām bichuḍat</a:t>
            </a:r>
            <a:br>
              <a:rPr lang="en-US" sz="6600" smtClean="0">
                <a:solidFill>
                  <a:srgbClr val="FFFFFF"/>
                </a:solidFill>
                <a:latin typeface="Calibri"/>
              </a:rPr>
            </a:br>
            <a:r>
              <a:rPr lang="en-US" sz="6600" smtClean="0">
                <a:solidFill>
                  <a:srgbClr val="FFFFFF"/>
                </a:solidFill>
                <a:latin typeface="Calibri"/>
              </a:rPr>
              <a:t>birah meiṅ tanatayi</a:t>
            </a:r>
            <a:endParaRPr lang="en-US" sz="660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en-US" sz="6400" smtClean="0">
                <a:solidFill>
                  <a:srgbClr val="FFFF00"/>
                </a:solidFill>
                <a:latin typeface="Calibri"/>
              </a:rPr>
              <a:t>With a heavy heart, Shyam departs, and in separation my body trembles.</a:t>
            </a:r>
            <a:endParaRPr lang="en-US" sz="6400">
              <a:solidFill>
                <a:srgbClr val="FFFF00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en-US" sz="6600" smtClean="0">
                <a:solidFill>
                  <a:srgbClr val="FFFFFF"/>
                </a:solidFill>
                <a:latin typeface="Calibri"/>
              </a:rPr>
              <a:t>dāsi mīrā lāl giridhar</a:t>
            </a:r>
            <a:br>
              <a:rPr lang="en-US" sz="6600" smtClean="0">
                <a:solidFill>
                  <a:srgbClr val="FFFFFF"/>
                </a:solidFill>
                <a:latin typeface="Calibri"/>
              </a:rPr>
            </a:br>
            <a:r>
              <a:rPr lang="en-US" sz="6600" smtClean="0">
                <a:solidFill>
                  <a:srgbClr val="FFFFFF"/>
                </a:solidFill>
                <a:latin typeface="Calibri"/>
              </a:rPr>
              <a:t>bikhar kyūṅ nā gayi</a:t>
            </a:r>
            <a:endParaRPr lang="en-US" sz="660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en-US" sz="5600" smtClean="0">
                <a:solidFill>
                  <a:srgbClr val="FFFF00"/>
                </a:solidFill>
                <a:latin typeface="Calibri"/>
              </a:rPr>
              <a:t>O Giridhar, my beloved, this servant Mira wonders how it is that I have not shattered apart.</a:t>
            </a:r>
            <a:endParaRPr lang="en-US" sz="5600">
              <a:solidFill>
                <a:srgbClr val="FFFF00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en-US" sz="6600" smtClean="0">
                <a:solidFill>
                  <a:srgbClr val="FFFFFF"/>
                </a:solidFill>
                <a:latin typeface="Calibri"/>
              </a:rPr>
              <a:t>sakhī rī lāj bairaṇ bhayi</a:t>
            </a:r>
            <a:endParaRPr lang="en-US" sz="660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en-US" sz="6600" smtClean="0">
                <a:solidFill>
                  <a:srgbClr val="FFFF00"/>
                </a:solidFill>
                <a:latin typeface="Calibri"/>
              </a:rPr>
              <a:t>O friend, modesty has become my enemy.</a:t>
            </a:r>
            <a:endParaRPr lang="en-US" sz="6600">
              <a:solidFill>
                <a:srgbClr val="FFFF00"/>
              </a:solidFill>
              <a:latin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160</Words>
  <Application>Microsoft Office PowerPoint</Application>
  <PresentationFormat>On-screen Show (4:3)</PresentationFormat>
  <Paragraphs>19</Paragraphs>
  <Slides>9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0" baseType="lpstr">
      <vt:lpstr>Office Theme</vt:lpstr>
      <vt:lpstr>sakhī rī lāj </vt:lpstr>
      <vt:lpstr>sakhī rī lāj bairaṇ bhayi śrī lāl gōpāl kē saṅg</vt:lpstr>
      <vt:lpstr>kahē nā… hīgayi sakhī rī lāj bairaṇ bhayi</vt:lpstr>
      <vt:lpstr>calan cāhat gōkul hī tē rath sajāyō nāhīṅ</vt:lpstr>
      <vt:lpstr>rath caḍhāyē gōpāl lai gayō  hāth miñjat rahī</vt:lpstr>
      <vt:lpstr>sakhī rī lāj bairaṇ bhayi</vt:lpstr>
      <vt:lpstr>kaṭhin chātī śyām bichuḍat birah meiṅ tanatayi</vt:lpstr>
      <vt:lpstr>dāsi mīrā lāl giridhar bikhar kyūṅ nā gayi</vt:lpstr>
      <vt:lpstr>sakhī rī lāj bairaṇ bhayi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sakhī rī lāj</dc:title>
  <dc:creator>Amrita</dc:creator>
  <cp:lastModifiedBy>Amrita</cp:lastModifiedBy>
  <cp:revision>1</cp:revision>
  <dcterms:created xsi:type="dcterms:W3CDTF">2025-08-30T10:30:18Z</dcterms:created>
  <dcterms:modified xsi:type="dcterms:W3CDTF">2025-08-30T10:30:50Z</dcterms:modified>
</cp:coreProperties>
</file>