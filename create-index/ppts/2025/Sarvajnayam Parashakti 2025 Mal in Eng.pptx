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8B6A4-305B-4708-9197-64A252463F8F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A77D-8961-4607-A7C1-1A94F686DB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8B6A4-305B-4708-9197-64A252463F8F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A77D-8961-4607-A7C1-1A94F686DB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8B6A4-305B-4708-9197-64A252463F8F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A77D-8961-4607-A7C1-1A94F686DB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8B6A4-305B-4708-9197-64A252463F8F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A77D-8961-4607-A7C1-1A94F686DB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8B6A4-305B-4708-9197-64A252463F8F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A77D-8961-4607-A7C1-1A94F686DB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8B6A4-305B-4708-9197-64A252463F8F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A77D-8961-4607-A7C1-1A94F686DB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8B6A4-305B-4708-9197-64A252463F8F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A77D-8961-4607-A7C1-1A94F686DB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8B6A4-305B-4708-9197-64A252463F8F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A77D-8961-4607-A7C1-1A94F686DB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8B6A4-305B-4708-9197-64A252463F8F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A77D-8961-4607-A7C1-1A94F686DB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8B6A4-305B-4708-9197-64A252463F8F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A77D-8961-4607-A7C1-1A94F686DB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8B6A4-305B-4708-9197-64A252463F8F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A77D-8961-4607-A7C1-1A94F686DB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8B6A4-305B-4708-9197-64A252463F8F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9A77D-8961-4607-A7C1-1A94F686DB9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sarvajñayām parāśakti (Malayalam)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smtClean="0">
                <a:solidFill>
                  <a:srgbClr val="FFFFFF"/>
                </a:solidFill>
                <a:latin typeface="Calibri"/>
              </a:rPr>
              <a:t>sarvajñayām parāśakti nin paitalinu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sarvavum ajñātam avyaktam</a:t>
            </a:r>
            <a:endParaRPr lang="en-US" sz="6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supreme power, the all-knowing Mother, everything remains unknown and unrevealed to this child.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sṛṣṭiyum sraṣṭāvum raṇḍalla eṅkil ī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sṛṣṭi-vaicitryam itentu nyāyam…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If the creator and creation are not two, then how can this remarkable difference be justified?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mātē nin putriyām māmaka samskāram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makṣikā-tulyamō atyadbhutam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my Mother, is it not strange that my nature is like that of a fly, my senses wandering indiscriminately,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900" smtClean="0">
                <a:solidFill>
                  <a:srgbClr val="FFFFFF"/>
                </a:solidFill>
                <a:latin typeface="Calibri"/>
              </a:rPr>
              <a:t>makṣikayil madhu-makṣikayō</a:t>
            </a:r>
            <a:br>
              <a:rPr lang="en-US" sz="5900" smtClean="0">
                <a:solidFill>
                  <a:srgbClr val="FFFFFF"/>
                </a:solidFill>
                <a:latin typeface="Calibri"/>
              </a:rPr>
            </a:br>
            <a:r>
              <a:rPr lang="en-US" sz="5900" smtClean="0">
                <a:solidFill>
                  <a:srgbClr val="FFFFFF"/>
                </a:solidFill>
                <a:latin typeface="Calibri"/>
              </a:rPr>
              <a:t>makarandam darśippū malaratilum</a:t>
            </a:r>
            <a:endParaRPr lang="en-US" sz="5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while the honeybee, though among the flies, sips only nectar from every flower it visits?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jay jay bhavāni… jay jay śivāni…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jay bandha-mōcini… kātyāyani…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Victory to Bhavani, victory to Shivani! Victory to Katyayani, the Mother who frees us from all attachments.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200" smtClean="0">
                <a:solidFill>
                  <a:srgbClr val="FFFFFF"/>
                </a:solidFill>
                <a:latin typeface="Calibri"/>
              </a:rPr>
              <a:t>jay jay layaṅkarī… jay jay priyaṅkarī…</a:t>
            </a:r>
            <a:br>
              <a:rPr lang="en-US" sz="6200" smtClean="0">
                <a:solidFill>
                  <a:srgbClr val="FFFFFF"/>
                </a:solidFill>
                <a:latin typeface="Calibri"/>
              </a:rPr>
            </a:br>
            <a:r>
              <a:rPr lang="en-US" sz="6200" smtClean="0">
                <a:solidFill>
                  <a:srgbClr val="FFFFFF"/>
                </a:solidFill>
                <a:latin typeface="Calibri"/>
              </a:rPr>
              <a:t>jay mitra-rūpiṇī… māhēśvarī</a:t>
            </a:r>
            <a:endParaRPr lang="en-US" sz="62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200" smtClean="0">
                <a:solidFill>
                  <a:srgbClr val="FFFF00"/>
                </a:solidFill>
                <a:latin typeface="Calibri"/>
              </a:rPr>
              <a:t>Victory to the beloved One, in whom all beings dissolve. Victory to the supreme Goddess, who has taken the form of a friend.</a:t>
            </a:r>
            <a:endParaRPr lang="en-US" sz="5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10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5100" smtClean="0">
                <a:solidFill>
                  <a:srgbClr val="FFFFFF"/>
                </a:solidFill>
                <a:latin typeface="Calibri"/>
              </a:rPr>
            </a:br>
            <a:r>
              <a:rPr lang="en-US" sz="5100" smtClean="0">
                <a:solidFill>
                  <a:srgbClr val="FFFFFF"/>
                </a:solidFill>
                <a:latin typeface="Calibri"/>
              </a:rPr>
              <a:t>muttukaḷ āyiram mālyam onnil kāṇmū</a:t>
            </a:r>
            <a:br>
              <a:rPr lang="en-US" sz="5100" smtClean="0">
                <a:solidFill>
                  <a:srgbClr val="FFFFFF"/>
                </a:solidFill>
                <a:latin typeface="Calibri"/>
              </a:rPr>
            </a:br>
            <a:r>
              <a:rPr lang="en-US" sz="5100" smtClean="0">
                <a:solidFill>
                  <a:srgbClr val="FFFFFF"/>
                </a:solidFill>
                <a:latin typeface="Calibri"/>
              </a:rPr>
              <a:t>kōrtt-iṇakkum tantu kāṇmat-uṇḍō</a:t>
            </a:r>
            <a:endParaRPr lang="en-US" sz="5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A thousand beads may be seen strung in a long chain, yet the thread that holds them together remains unseen.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smtClean="0">
                <a:solidFill>
                  <a:srgbClr val="FFFFFF"/>
                </a:solidFill>
                <a:latin typeface="Calibri"/>
              </a:rPr>
              <a:t>nānātva-rūpa prapañcam-itinuḷḷil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ēkatva-darśanam ētuvidham</a:t>
            </a:r>
            <a:endParaRPr lang="en-US" sz="6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Likewise, how can one perceive the oneness in this world of diverse names and forms?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193</Words>
  <Application>Microsoft Office PowerPoint</Application>
  <PresentationFormat>On-screen Show (4:3)</PresentationFormat>
  <Paragraphs>19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sarvajñayām parāśakti (Malayalam)</vt:lpstr>
      <vt:lpstr>sarvajñayām parāśakti nin paitalinu sarvavum ajñātam avyaktam</vt:lpstr>
      <vt:lpstr>sṛṣṭiyum sraṣṭāvum raṇḍalla eṅkil ī sṛṣṭi-vaicitryam itentu nyāyam… </vt:lpstr>
      <vt:lpstr>  mātē nin putriyām māmaka samskāram makṣikā-tulyamō atyadbhutam</vt:lpstr>
      <vt:lpstr>makṣikayil madhu-makṣikayō makarandam darśippū malaratilum</vt:lpstr>
      <vt:lpstr>  jay jay bhavāni… jay jay śivāni… jay bandha-mōcini… kātyāyani…</vt:lpstr>
      <vt:lpstr>jay jay layaṅkarī… jay jay priyaṅkarī… jay mitra-rūpiṇī… māhēśvarī</vt:lpstr>
      <vt:lpstr>  muttukaḷ āyiram mālyam onnil kāṇmū kōrtt-iṇakkum tantu kāṇmat-uṇḍō</vt:lpstr>
      <vt:lpstr>nānātva-rūpa prapañcam-itinuḷḷil ēkatva-darśanam ētuvidham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sarvajñayām parāśakti (Malayalam)</dc:title>
  <dc:creator>Amrita</dc:creator>
  <cp:lastModifiedBy>Amrita</cp:lastModifiedBy>
  <cp:revision>1</cp:revision>
  <dcterms:created xsi:type="dcterms:W3CDTF">2025-09-22T11:01:30Z</dcterms:created>
  <dcterms:modified xsi:type="dcterms:W3CDTF">2025-09-22T11:10:53Z</dcterms:modified>
</cp:coreProperties>
</file>