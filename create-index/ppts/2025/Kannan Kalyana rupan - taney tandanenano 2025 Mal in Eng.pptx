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A5369BC-9416-47A9-80FD-BE8C1F1C264B}" type="datetimeFigureOut">
              <a:rPr lang="en-US" smtClean="0"/>
              <a:t>6/26/2025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BE532-ADF4-4813-8CDA-677F1C3C1C0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5369BC-9416-47A9-80FD-BE8C1F1C264B}" type="datetimeFigureOut">
              <a:rPr lang="en-US" smtClean="0"/>
              <a:t>6/26/2025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BE532-ADF4-4813-8CDA-677F1C3C1C0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5369BC-9416-47A9-80FD-BE8C1F1C264B}" type="datetimeFigureOut">
              <a:rPr lang="en-US" smtClean="0"/>
              <a:t>6/26/2025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BE532-ADF4-4813-8CDA-677F1C3C1C0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5369BC-9416-47A9-80FD-BE8C1F1C264B}" type="datetimeFigureOut">
              <a:rPr lang="en-US" smtClean="0"/>
              <a:t>6/26/2025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3BE532-ADF4-4813-8CDA-677F1C3C1C0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A5369BC-9416-47A9-80FD-BE8C1F1C264B}" type="datetimeFigureOut">
              <a:rPr lang="en-US" smtClean="0"/>
              <a:t>6/26/2025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3BE532-ADF4-4813-8CDA-677F1C3C1C0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A5369BC-9416-47A9-80FD-BE8C1F1C264B}" type="datetimeFigureOut">
              <a:rPr lang="en-US" smtClean="0"/>
              <a:t>6/26/2025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3BE532-ADF4-4813-8CDA-677F1C3C1C0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5369BC-9416-47A9-80FD-BE8C1F1C264B}" type="datetimeFigureOut">
              <a:rPr lang="en-US" smtClean="0"/>
              <a:t>6/26/2025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3BE532-ADF4-4813-8CDA-677F1C3C1C0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369BC-9416-47A9-80FD-BE8C1F1C264B}" type="datetimeFigureOut">
              <a:rPr lang="en-US" smtClean="0"/>
              <a:t>6/26/2025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3BE532-ADF4-4813-8CDA-677F1C3C1C0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369BC-9416-47A9-80FD-BE8C1F1C264B}" type="datetimeFigureOut">
              <a:rPr lang="en-US" smtClean="0"/>
              <a:t>6/26/2025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3BE532-ADF4-4813-8CDA-677F1C3C1C0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5369BC-9416-47A9-80FD-BE8C1F1C264B}" type="datetimeFigureOut">
              <a:rPr lang="en-US" smtClean="0"/>
              <a:t>6/26/2025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BE532-ADF4-4813-8CDA-677F1C3C1C0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5369BC-9416-47A9-80FD-BE8C1F1C264B}" type="datetimeFigureOut">
              <a:rPr lang="en-US" smtClean="0"/>
              <a:t>6/26/2025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BE532-ADF4-4813-8CDA-677F1C3C1C0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5369BC-9416-47A9-80FD-BE8C1F1C264B}" type="datetimeFigureOut">
              <a:rPr lang="en-US" smtClean="0"/>
              <a:t>6/26/2025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3BE532-ADF4-4813-8CDA-677F1C3C1C0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tānēy tantānēnānō tānēy tantānēnānō</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2025</a:t>
            </a:r>
          </a:p>
          <a:p>
            <a:r>
              <a:rPr lang="en-US" sz="6600" smtClean="0">
                <a:solidFill>
                  <a:srgbClr val="FFFF00"/>
                </a:solidFill>
                <a:latin typeface="Calibri"/>
              </a:rPr>
              <a:t>(Malayalam)</a:t>
            </a:r>
            <a:endParaRPr lang="en-US" sz="6600">
              <a:solidFill>
                <a:srgbClr val="FFFF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tānēy tantānēnānō tānēy tantānēnānō</a:t>
            </a:r>
            <a:br>
              <a:rPr lang="en-US" sz="5600" smtClean="0">
                <a:solidFill>
                  <a:srgbClr val="FFFFFF"/>
                </a:solidFill>
                <a:latin typeface="Calibri"/>
              </a:rPr>
            </a:br>
            <a:r>
              <a:rPr lang="en-US" sz="5600" smtClean="0">
                <a:solidFill>
                  <a:srgbClr val="FFFFFF"/>
                </a:solidFill>
                <a:latin typeface="Calibri"/>
              </a:rPr>
              <a:t>tānēy tantānēnānō </a:t>
            </a:r>
            <a:br>
              <a:rPr lang="en-US" sz="5600" smtClean="0">
                <a:solidFill>
                  <a:srgbClr val="FFFFFF"/>
                </a:solidFill>
                <a:latin typeface="Calibri"/>
              </a:rPr>
            </a:br>
            <a:r>
              <a:rPr lang="en-US" sz="5600" smtClean="0">
                <a:solidFill>
                  <a:srgbClr val="FFFFFF"/>
                </a:solidFill>
                <a:latin typeface="Calibri"/>
              </a:rPr>
              <a:t>tānenānō…</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(A joyful chorus)</a:t>
            </a:r>
            <a:endParaRPr lang="en-US" sz="6600">
              <a:solidFill>
                <a:srgbClr val="FFFF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tantānai tānenanō tantānai tānenanō</a:t>
            </a:r>
            <a:br>
              <a:rPr lang="en-US" sz="5600" smtClean="0">
                <a:solidFill>
                  <a:srgbClr val="FFFFFF"/>
                </a:solidFill>
                <a:latin typeface="Calibri"/>
              </a:rPr>
            </a:br>
            <a:r>
              <a:rPr lang="en-US" sz="5600" smtClean="0">
                <a:solidFill>
                  <a:srgbClr val="FFFFFF"/>
                </a:solidFill>
                <a:latin typeface="Calibri"/>
              </a:rPr>
              <a:t>tantānai tānenanō</a:t>
            </a:r>
            <a:br>
              <a:rPr lang="en-US" sz="5600" smtClean="0">
                <a:solidFill>
                  <a:srgbClr val="FFFFFF"/>
                </a:solidFill>
                <a:latin typeface="Calibri"/>
              </a:rPr>
            </a:br>
            <a:r>
              <a:rPr lang="en-US" sz="5600" smtClean="0">
                <a:solidFill>
                  <a:srgbClr val="FFFFFF"/>
                </a:solidFill>
                <a:latin typeface="Calibri"/>
              </a:rPr>
              <a:t>tānenānō…</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(A joyful chorus)</a:t>
            </a:r>
            <a:endParaRPr lang="en-US" sz="6600">
              <a:solidFill>
                <a:srgbClr val="FFFF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kaṇṇan kalyāṇa-rūpan indrādi vandyan-avan</a:t>
            </a:r>
            <a:br>
              <a:rPr lang="en-US" sz="5600" smtClean="0">
                <a:solidFill>
                  <a:srgbClr val="FFFFFF"/>
                </a:solidFill>
                <a:latin typeface="Calibri"/>
              </a:rPr>
            </a:br>
            <a:r>
              <a:rPr lang="en-US" sz="5600" smtClean="0">
                <a:solidFill>
                  <a:srgbClr val="FFFFFF"/>
                </a:solidFill>
                <a:latin typeface="Calibri"/>
              </a:rPr>
              <a:t>nandā-yaśōda-sutan indu-mukhan</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3800" smtClean="0">
                <a:solidFill>
                  <a:srgbClr val="FFFF00"/>
                </a:solidFill>
                <a:latin typeface="Calibri"/>
              </a:rPr>
              <a:t>Let us all come together to sing the glory of Krishna—the embodiment of auspiciousness, adored by Indra and all the Gods, the beloved son of Nanda and Yashoda, whose face shines like the full moon,</a:t>
            </a:r>
            <a:endParaRPr lang="en-US" sz="3800">
              <a:solidFill>
                <a:srgbClr val="FFFF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900" smtClean="0">
                <a:solidFill>
                  <a:srgbClr val="FFFFFF"/>
                </a:solidFill>
                <a:latin typeface="Calibri"/>
              </a:rPr>
              <a:t>pārinn-uḍayavane pālāzhi-nāyakane</a:t>
            </a:r>
            <a:br>
              <a:rPr lang="en-US" sz="5900" smtClean="0">
                <a:solidFill>
                  <a:srgbClr val="FFFFFF"/>
                </a:solidFill>
                <a:latin typeface="Calibri"/>
              </a:rPr>
            </a:br>
            <a:r>
              <a:rPr lang="en-US" sz="5900" smtClean="0">
                <a:solidFill>
                  <a:srgbClr val="FFFFFF"/>
                </a:solidFill>
                <a:latin typeface="Calibri"/>
              </a:rPr>
              <a:t>gōpāla bālakane pāḍuka nām</a:t>
            </a:r>
            <a:endParaRPr lang="en-US" sz="59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the Lord of the earth and the Milky Way, the divine cowherd boy.</a:t>
            </a:r>
            <a:endParaRPr lang="en-US" sz="6600">
              <a:solidFill>
                <a:srgbClr val="FFFF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kōlakkuzhalum ūti gōpīmanam kavarnna</a:t>
            </a:r>
            <a:br>
              <a:rPr lang="en-US" sz="5600" smtClean="0">
                <a:solidFill>
                  <a:srgbClr val="FFFFFF"/>
                </a:solidFill>
                <a:latin typeface="Calibri"/>
              </a:rPr>
            </a:br>
            <a:r>
              <a:rPr lang="en-US" sz="5600" smtClean="0">
                <a:solidFill>
                  <a:srgbClr val="FFFFFF"/>
                </a:solidFill>
                <a:latin typeface="Calibri"/>
              </a:rPr>
              <a:t>kōḍakkārvarṇṇan ākum ōmalavan</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Let us all come together to sing the glory of Krishna—he who enchants the hearts of the gopis with the melodies of his flute, the beloved one,</a:t>
            </a:r>
            <a:endParaRPr lang="en-US" sz="4500">
              <a:solidFill>
                <a:srgbClr val="FFFF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āyarkulattin ennum ānandam ēkiḍunna</a:t>
            </a:r>
            <a:br>
              <a:rPr lang="en-US" sz="5600" smtClean="0">
                <a:solidFill>
                  <a:srgbClr val="FFFFFF"/>
                </a:solidFill>
                <a:latin typeface="Calibri"/>
              </a:rPr>
            </a:br>
            <a:r>
              <a:rPr lang="en-US" sz="5600" smtClean="0">
                <a:solidFill>
                  <a:srgbClr val="FFFFFF"/>
                </a:solidFill>
                <a:latin typeface="Calibri"/>
              </a:rPr>
              <a:t>kāyāmbū-varṇṇanuḍe līla pāḍū</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700" smtClean="0">
                <a:solidFill>
                  <a:srgbClr val="FFFF00"/>
                </a:solidFill>
                <a:latin typeface="Calibri"/>
              </a:rPr>
              <a:t>dark as a storm-laden rain cloud, who fills all of Gokulam with joy by his very presence.</a:t>
            </a:r>
            <a:endParaRPr lang="en-US" sz="5700">
              <a:solidFill>
                <a:srgbClr val="FFFF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kālil cilamb-aṇiññōn kāmaneyum vellum avan</a:t>
            </a:r>
            <a:br>
              <a:rPr lang="en-US" sz="5600" smtClean="0">
                <a:solidFill>
                  <a:srgbClr val="FFFFFF"/>
                </a:solidFill>
                <a:latin typeface="Calibri"/>
              </a:rPr>
            </a:br>
            <a:r>
              <a:rPr lang="en-US" sz="5600" smtClean="0">
                <a:solidFill>
                  <a:srgbClr val="FFFFFF"/>
                </a:solidFill>
                <a:latin typeface="Calibri"/>
              </a:rPr>
              <a:t>tādhittā tittai nṛttam āḍiḍumbōḷ</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He surpasses even Kamadeva, the God of love, with his beauty. When he adorns his feet with tinkling anklets and dances to the rhythm of “tadhita tittai,”</a:t>
            </a:r>
            <a:endParaRPr lang="en-US" sz="4500">
              <a:solidFill>
                <a:srgbClr val="FFFF00"/>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kāḷindi tan alayum kālikaḷum pāriḍavum</a:t>
            </a:r>
            <a:br>
              <a:rPr lang="en-US" sz="5600" smtClean="0">
                <a:solidFill>
                  <a:srgbClr val="FFFFFF"/>
                </a:solidFill>
                <a:latin typeface="Calibri"/>
              </a:rPr>
            </a:br>
            <a:r>
              <a:rPr lang="en-US" sz="5600" smtClean="0">
                <a:solidFill>
                  <a:srgbClr val="FFFFFF"/>
                </a:solidFill>
                <a:latin typeface="Calibri"/>
              </a:rPr>
              <a:t>cārē manam mayaṅgi ninniḍunnu</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the waves of the Kalindi River grow still, the cows pause, and the entire world stands motionless, hearts captivated by the grace of his divine dance.</a:t>
            </a:r>
            <a:endParaRPr lang="en-US" sz="4500">
              <a:solidFill>
                <a:srgbClr val="FFFF00"/>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200" smtClean="0">
                <a:solidFill>
                  <a:srgbClr val="FFFFFF"/>
                </a:solidFill>
                <a:latin typeface="Calibri"/>
              </a:rPr>
              <a:t>kāḷindī tīramatil kāṫṫatt-iḷaki ninna</a:t>
            </a:r>
            <a:br>
              <a:rPr lang="en-US" sz="6200" smtClean="0">
                <a:solidFill>
                  <a:srgbClr val="FFFFFF"/>
                </a:solidFill>
                <a:latin typeface="Calibri"/>
              </a:rPr>
            </a:br>
            <a:r>
              <a:rPr lang="en-US" sz="6200" smtClean="0">
                <a:solidFill>
                  <a:srgbClr val="FFFFFF"/>
                </a:solidFill>
                <a:latin typeface="Calibri"/>
              </a:rPr>
              <a:t>nīlakkaḍambil avan ēṙi uḍan</a:t>
            </a:r>
            <a:endParaRPr lang="en-US" sz="62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100" smtClean="0">
                <a:solidFill>
                  <a:srgbClr val="FFFF00"/>
                </a:solidFill>
                <a:latin typeface="Calibri"/>
              </a:rPr>
              <a:t>Once, he climbed the branches of a Kadamba tree, heavy with blue blossoms swaying in the breeze along the banks of the Kalindi.</a:t>
            </a:r>
            <a:endParaRPr lang="en-US" sz="5100">
              <a:solidFill>
                <a:srgbClr val="FFFF00"/>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kāḷiyan tan talayil cāḍī ā pāmbu tande</a:t>
            </a:r>
            <a:br>
              <a:rPr lang="en-US" sz="5600" smtClean="0">
                <a:solidFill>
                  <a:srgbClr val="FFFFFF"/>
                </a:solidFill>
                <a:latin typeface="Calibri"/>
              </a:rPr>
            </a:br>
            <a:r>
              <a:rPr lang="en-US" sz="5600" smtClean="0">
                <a:solidFill>
                  <a:srgbClr val="FFFFFF"/>
                </a:solidFill>
                <a:latin typeface="Calibri"/>
              </a:rPr>
              <a:t>kēmattam annu tanne tīrttuvallō</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From there, he dove into the waters below and subdued the ego of the cruel, venomous serpent Kaliya.</a:t>
            </a:r>
            <a:endParaRPr lang="en-US" sz="5600">
              <a:solidFill>
                <a:srgbClr val="FFFF00"/>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ōrttāl ivan kathakaḷ pērttum pērttum manassil</a:t>
            </a:r>
            <a:br>
              <a:rPr lang="en-US" sz="5600" smtClean="0">
                <a:solidFill>
                  <a:srgbClr val="FFFFFF"/>
                </a:solidFill>
                <a:latin typeface="Calibri"/>
              </a:rPr>
            </a:br>
            <a:r>
              <a:rPr lang="en-US" sz="5600" smtClean="0">
                <a:solidFill>
                  <a:srgbClr val="FFFFFF"/>
                </a:solidFill>
                <a:latin typeface="Calibri"/>
              </a:rPr>
              <a:t>ārtti akannu sukham pārttiḍunnu</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800" smtClean="0">
                <a:solidFill>
                  <a:srgbClr val="FFFF00"/>
                </a:solidFill>
                <a:latin typeface="Calibri"/>
              </a:rPr>
              <a:t>The more one remembers his divine stories, the more attachment to worldly things fades, and the mind is filled with joy and peace.</a:t>
            </a:r>
            <a:endParaRPr lang="en-US" sz="4800">
              <a:solidFill>
                <a:srgbClr val="FFFF00"/>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200" smtClean="0">
                <a:solidFill>
                  <a:srgbClr val="FFFFFF"/>
                </a:solidFill>
                <a:latin typeface="Calibri"/>
              </a:rPr>
              <a:t>ōrttīḍū nin manassil cērttīḍū nin padattil</a:t>
            </a:r>
            <a:br>
              <a:rPr lang="en-US" sz="6200" smtClean="0">
                <a:solidFill>
                  <a:srgbClr val="FFFFFF"/>
                </a:solidFill>
                <a:latin typeface="Calibri"/>
              </a:rPr>
            </a:br>
            <a:r>
              <a:rPr lang="en-US" sz="6200" smtClean="0">
                <a:solidFill>
                  <a:srgbClr val="FFFFFF"/>
                </a:solidFill>
                <a:latin typeface="Calibri"/>
              </a:rPr>
              <a:t>ārttārtti nāśakanē kāttiḍaṇē</a:t>
            </a:r>
            <a:endParaRPr lang="en-US" sz="62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600" smtClean="0">
                <a:solidFill>
                  <a:srgbClr val="FFFF00"/>
                </a:solidFill>
                <a:latin typeface="Calibri"/>
              </a:rPr>
              <a:t>Krishna, hold me in your heart and draw me to your sacred feet. Protect me, O you who destroy the sorrows of the distressed who call out to you!</a:t>
            </a:r>
            <a:endParaRPr lang="en-US" sz="4600">
              <a:solidFill>
                <a:srgbClr val="FFFF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339</Words>
  <Application>Microsoft Office PowerPoint</Application>
  <PresentationFormat>On-screen Show (4:3)</PresentationFormat>
  <Paragraphs>27</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tānēy tantānēnānō tānēy tantānēnānō</vt:lpstr>
      <vt:lpstr>tānēy tantānēnānō tānēy tantānēnānō tānēy tantānēnānō  tānenānō…</vt:lpstr>
      <vt:lpstr>tantānai tānenanō tantānai tānenanō tantānai tānenanō tānenānō…</vt:lpstr>
      <vt:lpstr>kaṇṇan kalyāṇa-rūpan indrādi vandyan-avan nandā-yaśōda-sutan indu-mukhan</vt:lpstr>
      <vt:lpstr>pārinn-uḍayavane pālāzhi-nāyakane gōpāla bālakane pāḍuka nām</vt:lpstr>
      <vt:lpstr>kōlakkuzhalum ūti gōpīmanam kavarnna kōḍakkārvarṇṇan ākum ōmalavan</vt:lpstr>
      <vt:lpstr>āyarkulattin ennum ānandam ēkiḍunna kāyāmbū-varṇṇanuḍe līla pāḍū</vt:lpstr>
      <vt:lpstr>kālil cilamb-aṇiññōn kāmaneyum vellum avan tādhittā tittai nṛttam āḍiḍumbōḷ</vt:lpstr>
      <vt:lpstr>kāḷindi tan alayum kālikaḷum pāriḍavum cārē manam mayaṅgi ninniḍunnu</vt:lpstr>
      <vt:lpstr>kāḷindī tīramatil kāṫṫatt-iḷaki ninna nīlakkaḍambil avan ēṙi uḍan</vt:lpstr>
      <vt:lpstr>kāḷiyan tan talayil cāḍī ā pāmbu tande kēmattam annu tanne tīrttuvallō</vt:lpstr>
      <vt:lpstr>ōrttāl ivan kathakaḷ pērttum pērttum manassil ārtti akannu sukham pārttiḍunnu</vt:lpstr>
      <vt:lpstr>ōrttīḍū nin manassil cērttīḍū nin padattil ārttārtti nāśakanē kāttiḍaṇē</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tānēy tantānēnānō tānēy tantānēnānō</dc:title>
  <dc:creator>Amrita</dc:creator>
  <cp:lastModifiedBy>Amrita</cp:lastModifiedBy>
  <cp:revision>1</cp:revision>
  <dcterms:created xsi:type="dcterms:W3CDTF">2025-06-26T14:08:45Z</dcterms:created>
  <dcterms:modified xsi:type="dcterms:W3CDTF">2025-06-26T14:10:28Z</dcterms:modified>
</cp:coreProperties>
</file>