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9" d="100"/>
          <a:sy n="109" d="100"/>
        </p:scale>
        <p:origin x="-1674"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750D4FA-F9D9-42E9-8412-A3F286E4C3C3}" type="datetimeFigureOut">
              <a:rPr lang="en-US" smtClean="0"/>
              <a:t>6/11/2025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086309-A0ED-493D-B6B4-05C85DD4379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750D4FA-F9D9-42E9-8412-A3F286E4C3C3}" type="datetimeFigureOut">
              <a:rPr lang="en-US" smtClean="0"/>
              <a:t>6/11/2025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086309-A0ED-493D-B6B4-05C85DD43790}"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750D4FA-F9D9-42E9-8412-A3F286E4C3C3}" type="datetimeFigureOut">
              <a:rPr lang="en-US" smtClean="0"/>
              <a:t>6/11/2025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086309-A0ED-493D-B6B4-05C85DD4379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750D4FA-F9D9-42E9-8412-A3F286E4C3C3}" type="datetimeFigureOut">
              <a:rPr lang="en-US" smtClean="0"/>
              <a:t>6/11/2025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086309-A0ED-493D-B6B4-05C85DD4379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750D4FA-F9D9-42E9-8412-A3F286E4C3C3}" type="datetimeFigureOut">
              <a:rPr lang="en-US" smtClean="0"/>
              <a:t>6/11/2025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4086309-A0ED-493D-B6B4-05C85DD4379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750D4FA-F9D9-42E9-8412-A3F286E4C3C3}" type="datetimeFigureOut">
              <a:rPr lang="en-US" smtClean="0"/>
              <a:t>6/11/2025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4086309-A0ED-493D-B6B4-05C85DD4379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50D4FA-F9D9-42E9-8412-A3F286E4C3C3}" type="datetimeFigureOut">
              <a:rPr lang="en-US" smtClean="0"/>
              <a:t>6/11/2025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4086309-A0ED-493D-B6B4-05C85DD4379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750D4FA-F9D9-42E9-8412-A3F286E4C3C3}" type="datetimeFigureOut">
              <a:rPr lang="en-US" smtClean="0"/>
              <a:t>6/11/2025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086309-A0ED-493D-B6B4-05C85DD4379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750D4FA-F9D9-42E9-8412-A3F286E4C3C3}" type="datetimeFigureOut">
              <a:rPr lang="en-US" smtClean="0"/>
              <a:t>6/11/2025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086309-A0ED-493D-B6B4-05C85DD4379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750D4FA-F9D9-42E9-8412-A3F286E4C3C3}" type="datetimeFigureOut">
              <a:rPr lang="en-US" smtClean="0"/>
              <a:t>6/11/2025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086309-A0ED-493D-B6B4-05C85DD4379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750D4FA-F9D9-42E9-8412-A3F286E4C3C3}" type="datetimeFigureOut">
              <a:rPr lang="en-US" smtClean="0"/>
              <a:t>6/11/2025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086309-A0ED-493D-B6B4-05C85DD43790}"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50D4FA-F9D9-42E9-8412-A3F286E4C3C3}" type="datetimeFigureOut">
              <a:rPr lang="en-US" smtClean="0"/>
              <a:t>6/11/2025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086309-A0ED-493D-B6B4-05C85DD4379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600" smtClean="0">
                <a:solidFill>
                  <a:srgbClr val="FFFFFF"/>
                </a:solidFill>
                <a:latin typeface="Calibri"/>
              </a:rPr>
              <a:t>poṭṭi karaññu karaññu – manam</a:t>
            </a:r>
            <a:endParaRPr lang="en-US" sz="6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600" smtClean="0">
                <a:solidFill>
                  <a:srgbClr val="FFFF00"/>
                </a:solidFill>
                <a:latin typeface="Calibri"/>
              </a:rPr>
              <a:t>2025</a:t>
            </a:r>
          </a:p>
          <a:p>
            <a:r>
              <a:rPr lang="en-US" sz="6600" smtClean="0">
                <a:solidFill>
                  <a:srgbClr val="FFFF00"/>
                </a:solidFill>
                <a:latin typeface="Calibri"/>
              </a:rPr>
              <a:t>(Malayalam)</a:t>
            </a:r>
            <a:endParaRPr lang="en-US" sz="6600">
              <a:solidFill>
                <a:srgbClr val="FFFF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600" smtClean="0">
                <a:solidFill>
                  <a:srgbClr val="FFFFFF"/>
                </a:solidFill>
                <a:latin typeface="Calibri"/>
              </a:rPr>
              <a:t>poṭṭi karaññu karaññu – manam</a:t>
            </a:r>
            <a:br>
              <a:rPr lang="en-US" sz="6600" smtClean="0">
                <a:solidFill>
                  <a:srgbClr val="FFFFFF"/>
                </a:solidFill>
                <a:latin typeface="Calibri"/>
              </a:rPr>
            </a:br>
            <a:r>
              <a:rPr lang="en-US" sz="6600" smtClean="0">
                <a:solidFill>
                  <a:srgbClr val="FFFFFF"/>
                </a:solidFill>
                <a:latin typeface="Calibri"/>
              </a:rPr>
              <a:t>poṭṭi takarnnu viḷippū</a:t>
            </a:r>
            <a:endParaRPr lang="en-US" sz="6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600" smtClean="0">
                <a:solidFill>
                  <a:srgbClr val="FFFF00"/>
                </a:solidFill>
                <a:latin typeface="Calibri"/>
              </a:rPr>
              <a:t>Mother! I cry out loud, calling to you.</a:t>
            </a:r>
            <a:endParaRPr lang="en-US" sz="6600">
              <a:solidFill>
                <a:srgbClr val="FFFF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600" smtClean="0">
                <a:solidFill>
                  <a:srgbClr val="FFFFFF"/>
                </a:solidFill>
                <a:latin typeface="Calibri"/>
              </a:rPr>
              <a:t>taṭṭi takarnnorī jīvita-naukaye</a:t>
            </a:r>
            <a:br>
              <a:rPr lang="en-US" sz="6600" smtClean="0">
                <a:solidFill>
                  <a:srgbClr val="FFFFFF"/>
                </a:solidFill>
                <a:latin typeface="Calibri"/>
              </a:rPr>
            </a:br>
            <a:r>
              <a:rPr lang="en-US" sz="6600" smtClean="0">
                <a:solidFill>
                  <a:srgbClr val="FFFFFF"/>
                </a:solidFill>
                <a:latin typeface="Calibri"/>
              </a:rPr>
              <a:t>teṫṫennu tīram aṇaykkū</a:t>
            </a:r>
            <a:endParaRPr lang="en-US" sz="6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4500" smtClean="0">
                <a:solidFill>
                  <a:srgbClr val="FFFF00"/>
                </a:solidFill>
                <a:latin typeface="Calibri"/>
              </a:rPr>
              <a:t>The boat of my life is caught in the whirlpools of this ocean of samsara. Do not delay—carry this boat, battered by the rocks of sorrow, to the shore of your peace.</a:t>
            </a:r>
            <a:endParaRPr lang="en-US" sz="4500">
              <a:solidFill>
                <a:srgbClr val="FFFF00"/>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600" smtClean="0">
                <a:solidFill>
                  <a:srgbClr val="FFFFFF"/>
                </a:solidFill>
                <a:latin typeface="Calibri"/>
              </a:rPr>
              <a:t>muṫṫi vaḷarunnu duḥkham – cuṫṫum</a:t>
            </a:r>
            <a:br>
              <a:rPr lang="en-US" sz="6600" smtClean="0">
                <a:solidFill>
                  <a:srgbClr val="FFFFFF"/>
                </a:solidFill>
                <a:latin typeface="Calibri"/>
              </a:rPr>
            </a:br>
            <a:r>
              <a:rPr lang="en-US" sz="6600" smtClean="0">
                <a:solidFill>
                  <a:srgbClr val="FFFFFF"/>
                </a:solidFill>
                <a:latin typeface="Calibri"/>
              </a:rPr>
              <a:t>ceṫṫalla collān kaḍuppam</a:t>
            </a:r>
            <a:endParaRPr lang="en-US" sz="6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600" smtClean="0">
                <a:solidFill>
                  <a:srgbClr val="FFFF00"/>
                </a:solidFill>
                <a:latin typeface="Calibri"/>
              </a:rPr>
              <a:t>I cannot describe the pain that surrounds me.</a:t>
            </a:r>
            <a:endParaRPr lang="en-US" sz="6600">
              <a:solidFill>
                <a:srgbClr val="FFFF00"/>
              </a:solidFill>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600" smtClean="0">
                <a:solidFill>
                  <a:srgbClr val="FFFFFF"/>
                </a:solidFill>
                <a:latin typeface="Calibri"/>
              </a:rPr>
              <a:t>ceṫṫu kṛpa coriññ-attal-akaṫṫāykil</a:t>
            </a:r>
            <a:br>
              <a:rPr lang="en-US" sz="6600" smtClean="0">
                <a:solidFill>
                  <a:srgbClr val="FFFFFF"/>
                </a:solidFill>
                <a:latin typeface="Calibri"/>
              </a:rPr>
            </a:br>
            <a:r>
              <a:rPr lang="en-US" sz="6600" smtClean="0">
                <a:solidFill>
                  <a:srgbClr val="FFFFFF"/>
                </a:solidFill>
                <a:latin typeface="Calibri"/>
              </a:rPr>
              <a:t>vaṫṫi varaḷum en cittam</a:t>
            </a:r>
            <a:endParaRPr lang="en-US" sz="6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100" smtClean="0">
                <a:solidFill>
                  <a:srgbClr val="FFFF00"/>
                </a:solidFill>
                <a:latin typeface="Calibri"/>
              </a:rPr>
              <a:t>If you do not rain down your grace, Mother, my heart will wither into an arid desert.</a:t>
            </a:r>
            <a:endParaRPr lang="en-US" sz="6100">
              <a:solidFill>
                <a:srgbClr val="FFFF00"/>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600" smtClean="0">
                <a:solidFill>
                  <a:srgbClr val="FFFFFF"/>
                </a:solidFill>
                <a:latin typeface="Calibri"/>
              </a:rPr>
              <a:t>hṛttil nṛttam caviṭṭīḍān kaniññ-</a:t>
            </a:r>
            <a:br>
              <a:rPr lang="en-US" sz="6600" smtClean="0">
                <a:solidFill>
                  <a:srgbClr val="FFFFFF"/>
                </a:solidFill>
                <a:latin typeface="Calibri"/>
              </a:rPr>
            </a:br>
            <a:r>
              <a:rPr lang="en-US" sz="6600" smtClean="0">
                <a:solidFill>
                  <a:srgbClr val="FFFFFF"/>
                </a:solidFill>
                <a:latin typeface="Calibri"/>
              </a:rPr>
              <a:t>ettān arutē amāntam</a:t>
            </a:r>
            <a:endParaRPr lang="en-US" sz="6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600" smtClean="0">
                <a:solidFill>
                  <a:srgbClr val="FFFF00"/>
                </a:solidFill>
                <a:latin typeface="Calibri"/>
              </a:rPr>
              <a:t>Do not delay any longer—dance your blissful dance in my heart.</a:t>
            </a:r>
            <a:endParaRPr lang="en-US" sz="6600">
              <a:solidFill>
                <a:srgbClr val="FFFF00"/>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600" smtClean="0">
                <a:solidFill>
                  <a:srgbClr val="FFFFFF"/>
                </a:solidFill>
                <a:latin typeface="Calibri"/>
              </a:rPr>
              <a:t>kattunna neñcil nin mettum kṛpāvarṣam</a:t>
            </a:r>
            <a:br>
              <a:rPr lang="en-US" sz="6600" smtClean="0">
                <a:solidFill>
                  <a:srgbClr val="FFFFFF"/>
                </a:solidFill>
                <a:latin typeface="Calibri"/>
              </a:rPr>
            </a:br>
            <a:r>
              <a:rPr lang="en-US" sz="6600" smtClean="0">
                <a:solidFill>
                  <a:srgbClr val="FFFFFF"/>
                </a:solidFill>
                <a:latin typeface="Calibri"/>
              </a:rPr>
              <a:t>ettunna nāḷ kāttirippū</a:t>
            </a:r>
            <a:endParaRPr lang="en-US" sz="6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5600" smtClean="0">
                <a:solidFill>
                  <a:srgbClr val="FFFF00"/>
                </a:solidFill>
                <a:latin typeface="Calibri"/>
              </a:rPr>
              <a:t>Come, overflowing with grace, into this heart burning with grief. I count every moment, awaiting your arrival.</a:t>
            </a:r>
            <a:endParaRPr lang="en-US" sz="5600">
              <a:solidFill>
                <a:srgbClr val="FFFF00"/>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141</Words>
  <Application>Microsoft Office PowerPoint</Application>
  <PresentationFormat>On-screen Show (4:3)</PresentationFormat>
  <Paragraphs>15</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poṭṭi karaññu karaññu – manam</vt:lpstr>
      <vt:lpstr>poṭṭi karaññu karaññu – manam poṭṭi takarnnu viḷippū</vt:lpstr>
      <vt:lpstr>taṭṭi takarnnorī jīvita-naukaye teṫṫennu tīram aṇaykkū</vt:lpstr>
      <vt:lpstr>muṫṫi vaḷarunnu duḥkham – cuṫṫum ceṫṫalla collān kaḍuppam</vt:lpstr>
      <vt:lpstr>ceṫṫu kṛpa coriññ-attal-akaṫṫāykil vaṫṫi varaḷum en cittam</vt:lpstr>
      <vt:lpstr>hṛttil nṛttam caviṭṭīḍān kaniññ- ettān arutē amāntam</vt:lpstr>
      <vt:lpstr>kattunna neñcil nin mettum kṛpāvarṣam ettunna nāḷ kāttirippū</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poṭṭi karaññu karaññu – manam</dc:title>
  <dc:creator>Amrita</dc:creator>
  <cp:lastModifiedBy>Amrita</cp:lastModifiedBy>
  <cp:revision>1</cp:revision>
  <dcterms:created xsi:type="dcterms:W3CDTF">2025-06-11T11:14:49Z</dcterms:created>
  <dcterms:modified xsi:type="dcterms:W3CDTF">2025-06-11T11:16:28Z</dcterms:modified>
</cp:coreProperties>
</file>