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18152D4-835C-4007-AA33-DDE1A62487CA}"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8152D4-835C-4007-AA33-DDE1A62487CA}"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8152D4-835C-4007-AA33-DDE1A62487CA}"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18152D4-835C-4007-AA33-DDE1A62487CA}"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18152D4-835C-4007-AA33-DDE1A62487CA}"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18152D4-835C-4007-AA33-DDE1A62487CA}"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8152D4-835C-4007-AA33-DDE1A62487CA}"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8152D4-835C-4007-AA33-DDE1A62487CA}"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8152D4-835C-4007-AA33-DDE1A62487CA}"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8152D4-835C-4007-AA33-DDE1A62487CA}"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8152D4-835C-4007-AA33-DDE1A62487CA}"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A12B5D-10F2-443B-BB16-BF133B69217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152D4-835C-4007-AA33-DDE1A62487CA}" type="datetimeFigureOut">
              <a:rPr lang="en-US" smtClean="0"/>
              <a:t>8/4/2025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A12B5D-10F2-443B-BB16-BF133B69217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mājī sāṅvarē </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2025</a:t>
            </a:r>
          </a:p>
          <a:p>
            <a:r>
              <a:rPr lang="en-US" sz="6600" smtClean="0">
                <a:solidFill>
                  <a:srgbClr val="FFFF00"/>
                </a:solidFill>
                <a:latin typeface="Calibri"/>
              </a:rPr>
              <a:t>(Braj Bhasha)</a:t>
            </a:r>
            <a:endParaRPr lang="en-US" sz="6600">
              <a:solidFill>
                <a:srgbClr val="FFFF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mājī sāṅvarē raṅg rācī</a:t>
            </a:r>
            <a:br>
              <a:rPr lang="en-US" sz="6600" smtClean="0">
                <a:solidFill>
                  <a:srgbClr val="FFFFFF"/>
                </a:solidFill>
                <a:latin typeface="Calibri"/>
              </a:rPr>
            </a:br>
            <a:r>
              <a:rPr lang="en-US" sz="6600" smtClean="0">
                <a:solidFill>
                  <a:srgbClr val="FFFFFF"/>
                </a:solidFill>
                <a:latin typeface="Calibri"/>
              </a:rPr>
              <a:t>sāṅvarē… raṅg rācī</a:t>
            </a:r>
            <a:br>
              <a:rPr lang="en-US" sz="6600" smtClean="0">
                <a:solidFill>
                  <a:srgbClr val="FFFFFF"/>
                </a:solidFill>
                <a:latin typeface="Calibri"/>
              </a:rPr>
            </a:br>
            <a:r>
              <a:rPr lang="en-US" sz="6600" smtClean="0">
                <a:solidFill>
                  <a:srgbClr val="FFFFFF"/>
                </a:solidFill>
                <a:latin typeface="Calibri"/>
              </a:rPr>
              <a:t>māji sāṅvarē raṅg rācī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My beloved, the dark-hued one, has dyed me in his color. My beloved has steeped me in his hue.</a:t>
            </a:r>
            <a:endParaRPr lang="en-US" sz="5600">
              <a:solidFill>
                <a:srgbClr val="FFFF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gayā kūmataḍhyā…</a:t>
            </a:r>
            <a:br>
              <a:rPr lang="en-US" sz="6600" smtClean="0">
                <a:solidFill>
                  <a:srgbClr val="FFFFFF"/>
                </a:solidFill>
                <a:latin typeface="Calibri"/>
              </a:rPr>
            </a:br>
            <a:r>
              <a:rPr lang="en-US" sz="6600" smtClean="0">
                <a:solidFill>
                  <a:srgbClr val="FFFFFF"/>
                </a:solidFill>
                <a:latin typeface="Calibri"/>
              </a:rPr>
              <a:t>gayā kūmataḍhyā rādhā saṅgat</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Gone is my stubborn pride… it left when I joined Radha’s company.</a:t>
            </a:r>
            <a:endParaRPr lang="en-US" sz="6600">
              <a:solidFill>
                <a:srgbClr val="FFFF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śyām prīti jag sāñcī</a:t>
            </a:r>
            <a:br>
              <a:rPr lang="en-US" sz="6600" smtClean="0">
                <a:solidFill>
                  <a:srgbClr val="FFFFFF"/>
                </a:solidFill>
                <a:latin typeface="Calibri"/>
              </a:rPr>
            </a:br>
            <a:r>
              <a:rPr lang="en-US" sz="6600" smtClean="0">
                <a:solidFill>
                  <a:srgbClr val="FFFFFF"/>
                </a:solidFill>
                <a:latin typeface="Calibri"/>
              </a:rPr>
              <a:t>māji sāṅvarē raṅg rācī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5600" smtClean="0">
                <a:solidFill>
                  <a:srgbClr val="FFFF00"/>
                </a:solidFill>
                <a:latin typeface="Calibri"/>
              </a:rPr>
              <a:t>The love of Shyam is now established in the world. My beloved has dyed me in his hue.</a:t>
            </a:r>
            <a:endParaRPr lang="en-US" sz="5600">
              <a:solidFill>
                <a:srgbClr val="FFFF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gāyā gāyā…</a:t>
            </a:r>
            <a:br>
              <a:rPr lang="en-US" sz="6600" smtClean="0">
                <a:solidFill>
                  <a:srgbClr val="FFFFFF"/>
                </a:solidFill>
                <a:latin typeface="Calibri"/>
              </a:rPr>
            </a:br>
            <a:r>
              <a:rPr lang="en-US" sz="6600" smtClean="0">
                <a:solidFill>
                  <a:srgbClr val="FFFFFF"/>
                </a:solidFill>
                <a:latin typeface="Calibri"/>
              </a:rPr>
              <a:t>gāyā gāyā hari guṇ nisa din</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600" smtClean="0">
                <a:solidFill>
                  <a:srgbClr val="FFFF00"/>
                </a:solidFill>
                <a:latin typeface="Calibri"/>
              </a:rPr>
              <a:t>I sang and sang… sang the glories of Hari day and night,</a:t>
            </a:r>
            <a:endParaRPr lang="en-US" sz="6600">
              <a:solidFill>
                <a:srgbClr val="FFFF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kāl byāl rī bāṅcī</a:t>
            </a:r>
            <a:br>
              <a:rPr lang="en-US" sz="6600" smtClean="0">
                <a:solidFill>
                  <a:srgbClr val="FFFFFF"/>
                </a:solidFill>
                <a:latin typeface="Calibri"/>
              </a:rPr>
            </a:br>
            <a:r>
              <a:rPr lang="en-US" sz="6600" smtClean="0">
                <a:solidFill>
                  <a:srgbClr val="FFFFFF"/>
                </a:solidFill>
                <a:latin typeface="Calibri"/>
              </a:rPr>
              <a:t>śyām binā jag khārā lāgā</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000" smtClean="0">
                <a:solidFill>
                  <a:srgbClr val="FFFF00"/>
                </a:solidFill>
                <a:latin typeface="Calibri"/>
              </a:rPr>
              <a:t>avoiding the traps of time and illusion. Without Shyam, the world feels bitter.</a:t>
            </a:r>
            <a:endParaRPr lang="en-US" sz="6000">
              <a:solidFill>
                <a:srgbClr val="FFFF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jaga rī bātāṅ kācī</a:t>
            </a:r>
            <a:br>
              <a:rPr lang="en-US" sz="6600" smtClean="0">
                <a:solidFill>
                  <a:srgbClr val="FFFFFF"/>
                </a:solidFill>
                <a:latin typeface="Calibri"/>
              </a:rPr>
            </a:br>
            <a:r>
              <a:rPr lang="en-US" sz="6600" smtClean="0">
                <a:solidFill>
                  <a:srgbClr val="FFFFFF"/>
                </a:solidFill>
                <a:latin typeface="Calibri"/>
              </a:rPr>
              <a:t>mājī sāṅvarē raṅg rācī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6400" smtClean="0">
                <a:solidFill>
                  <a:srgbClr val="FFFF00"/>
                </a:solidFill>
                <a:latin typeface="Calibri"/>
              </a:rPr>
              <a:t>The words of the world are empty glass. My beloved has dyed me in his hue.</a:t>
            </a:r>
            <a:endParaRPr lang="en-US" sz="6400">
              <a:solidFill>
                <a:srgbClr val="FFFF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3429000"/>
          </a:xfrm>
        </p:spPr>
        <p:txBody>
          <a:bodyPr wrap="square" anchor="ctr">
            <a:noAutofit/>
          </a:bodyPr>
          <a:lstStyle/>
          <a:p>
            <a:r>
              <a:rPr lang="en-US" sz="6600" smtClean="0">
                <a:solidFill>
                  <a:srgbClr val="FFFFFF"/>
                </a:solidFill>
                <a:latin typeface="Calibri"/>
              </a:rPr>
              <a:t>mīrā śrī giridharnaṭ nāgar</a:t>
            </a:r>
            <a:br>
              <a:rPr lang="en-US" sz="6600" smtClean="0">
                <a:solidFill>
                  <a:srgbClr val="FFFFFF"/>
                </a:solidFill>
                <a:latin typeface="Calibri"/>
              </a:rPr>
            </a:br>
            <a:r>
              <a:rPr lang="en-US" sz="6600" smtClean="0">
                <a:solidFill>
                  <a:srgbClr val="FFFFFF"/>
                </a:solidFill>
                <a:latin typeface="Calibri"/>
              </a:rPr>
              <a:t>bhagat rasīli jāñcī… </a:t>
            </a:r>
            <a:br>
              <a:rPr lang="en-US" sz="6600" smtClean="0">
                <a:solidFill>
                  <a:srgbClr val="FFFFFF"/>
                </a:solidFill>
                <a:latin typeface="Calibri"/>
              </a:rPr>
            </a:br>
            <a:r>
              <a:rPr lang="en-US" sz="6600" smtClean="0">
                <a:solidFill>
                  <a:srgbClr val="FFFFFF"/>
                </a:solidFill>
                <a:latin typeface="Calibri"/>
              </a:rPr>
              <a:t>māji sāṅvarē raṅg rācī</a:t>
            </a:r>
            <a:endParaRPr lang="en-US" sz="6600">
              <a:solidFill>
                <a:srgbClr val="FFFFFF"/>
              </a:solidFill>
              <a:latin typeface="Calibri"/>
            </a:endParaRPr>
          </a:p>
        </p:txBody>
      </p:sp>
      <p:sp>
        <p:nvSpPr>
          <p:cNvPr id="3" name="Subtitle 2"/>
          <p:cNvSpPr>
            <a:spLocks noGrp="1"/>
          </p:cNvSpPr>
          <p:nvPr>
            <p:ph type="subTitle" idx="1"/>
          </p:nvPr>
        </p:nvSpPr>
        <p:spPr>
          <a:xfrm>
            <a:off x="0" y="3429000"/>
            <a:ext cx="9144000" cy="3429000"/>
          </a:xfrm>
        </p:spPr>
        <p:txBody>
          <a:bodyPr wrap="square" anchor="ctr" anchorCtr="1">
            <a:noAutofit/>
          </a:bodyPr>
          <a:lstStyle/>
          <a:p>
            <a:r>
              <a:rPr lang="en-US" sz="4400" smtClean="0">
                <a:solidFill>
                  <a:srgbClr val="FFFF00"/>
                </a:solidFill>
                <a:latin typeface="Calibri"/>
              </a:rPr>
              <a:t>Mirabai speaks of the Lord of Giridhar (the lifter of Govardhan), the charming, noble beloved. She is soaked in the sweet nectar of devotion. My beloved has dyed me in his hue.</a:t>
            </a:r>
            <a:endParaRPr lang="en-US" sz="4400">
              <a:solidFill>
                <a:srgbClr val="FFFF00"/>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171</Words>
  <Application>Microsoft Office PowerPoint</Application>
  <PresentationFormat>On-screen Show (4:3)</PresentationFormat>
  <Paragraphs>17</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mājī sāṅvarē </vt:lpstr>
      <vt:lpstr>mājī sāṅvarē raṅg rācī sāṅvarē… raṅg rācī māji sāṅvarē raṅg rācī</vt:lpstr>
      <vt:lpstr>gayā kūmataḍhyā… gayā kūmataḍhyā rādhā saṅgat</vt:lpstr>
      <vt:lpstr>śyām prīti jag sāñcī māji sāṅvarē raṅg rācī</vt:lpstr>
      <vt:lpstr>gāyā gāyā… gāyā gāyā hari guṇ nisa din</vt:lpstr>
      <vt:lpstr>kāl byāl rī bāṅcī śyām binā jag khārā lāgā</vt:lpstr>
      <vt:lpstr>jaga rī bātāṅ kācī mājī sāṅvarē raṅg rācī</vt:lpstr>
      <vt:lpstr>mīrā śrī giridharnaṭ nāgar bhagat rasīli jāñcī…  māji sāṅvarē raṅg rācī</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mājī sāṅvarē </dc:title>
  <dc:creator>Amrita</dc:creator>
  <cp:lastModifiedBy>Amrita</cp:lastModifiedBy>
  <cp:revision>1</cp:revision>
  <dcterms:created xsi:type="dcterms:W3CDTF">2025-08-04T05:01:45Z</dcterms:created>
  <dcterms:modified xsi:type="dcterms:W3CDTF">2025-08-04T05:02:11Z</dcterms:modified>
</cp:coreProperties>
</file>