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11556-C852-4D95-AE99-2F692CFD765C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503A3-E61E-48E6-819E-EC94545355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11556-C852-4D95-AE99-2F692CFD765C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503A3-E61E-48E6-819E-EC94545355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11556-C852-4D95-AE99-2F692CFD765C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503A3-E61E-48E6-819E-EC94545355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11556-C852-4D95-AE99-2F692CFD765C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503A3-E61E-48E6-819E-EC94545355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11556-C852-4D95-AE99-2F692CFD765C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503A3-E61E-48E6-819E-EC94545355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11556-C852-4D95-AE99-2F692CFD765C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503A3-E61E-48E6-819E-EC94545355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11556-C852-4D95-AE99-2F692CFD765C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503A3-E61E-48E6-819E-EC94545355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11556-C852-4D95-AE99-2F692CFD765C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503A3-E61E-48E6-819E-EC94545355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11556-C852-4D95-AE99-2F692CFD765C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503A3-E61E-48E6-819E-EC94545355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11556-C852-4D95-AE99-2F692CFD765C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503A3-E61E-48E6-819E-EC94545355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11556-C852-4D95-AE99-2F692CFD765C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503A3-E61E-48E6-819E-EC94545355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111556-C852-4D95-AE99-2F692CFD765C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1503A3-E61E-48E6-819E-EC94545355D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kaṇṇande kāruṇyam kaṇḍāl aṙiyilla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kaṇṇande kāruṇyam kaṇḍāl aṙiyilla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kēṭṭālum oṭṭum aṙiyukīla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500" smtClean="0">
                <a:solidFill>
                  <a:srgbClr val="FFFF00"/>
                </a:solidFill>
                <a:latin typeface="Calibri"/>
              </a:rPr>
              <a:t>Lord Krishna’s compassion cannot be grasped, even through seeing or hearing.</a:t>
            </a:r>
            <a:endParaRPr lang="en-US" sz="6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ātmānubhūtiyāy kaṇṇan kaniññālē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kāruṇya-pūram teḷiyuḷḷū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600" smtClean="0">
                <a:solidFill>
                  <a:srgbClr val="FFFF00"/>
                </a:solidFill>
                <a:latin typeface="Calibri"/>
              </a:rPr>
              <a:t>Only if Krishna, through his compassion, grants us the experience of the blissful Self, will we truly know the fullness of his loving kindness.</a:t>
            </a:r>
            <a:endParaRPr lang="en-US" sz="4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ponmaṇi dīpam manassil teḷiyuvān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saccidānandam nukarnnīḍuvān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For the bright lamp of his radiant face to shine within our heart, and for us to savour the bliss of pure existence,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nāma-saṅkīrttana mālakaḷ cārttēṇam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mānasa-sāndramām veṇṇa vēṇam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we must adorn him with garlands of his name and offer hymns of devotion. Our heart should be like butter floating on water—untouched by the impurities of the world.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700" smtClean="0">
                <a:solidFill>
                  <a:srgbClr val="FFFFFF"/>
                </a:solidFill>
                <a:latin typeface="Calibri"/>
              </a:rPr>
              <a:t>uḷḷinde uḷḷam kaṙann-oru bhaktiyām</a:t>
            </a:r>
            <a:br>
              <a:rPr lang="en-US" sz="5700" smtClean="0">
                <a:solidFill>
                  <a:srgbClr val="FFFFFF"/>
                </a:solidFill>
                <a:latin typeface="Calibri"/>
              </a:rPr>
            </a:br>
            <a:r>
              <a:rPr lang="en-US" sz="5700" smtClean="0">
                <a:solidFill>
                  <a:srgbClr val="FFFFFF"/>
                </a:solidFill>
                <a:latin typeface="Calibri"/>
              </a:rPr>
              <a:t>paimbāl karutēṇam kaṇṇanāyi</a:t>
            </a:r>
            <a:endParaRPr lang="en-US" sz="57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We must offer the pure milk of deep devotion that wells up from within.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300" smtClean="0">
                <a:solidFill>
                  <a:srgbClr val="FFFFFF"/>
                </a:solidFill>
                <a:latin typeface="Calibri"/>
              </a:rPr>
              <a:t>jīvanām rādhayāy kēṇu viḷiccālō</a:t>
            </a:r>
            <a:br>
              <a:rPr lang="en-US" sz="6300" smtClean="0">
                <a:solidFill>
                  <a:srgbClr val="FFFFFF"/>
                </a:solidFill>
                <a:latin typeface="Calibri"/>
              </a:rPr>
            </a:br>
            <a:r>
              <a:rPr lang="en-US" sz="6300" smtClean="0">
                <a:solidFill>
                  <a:srgbClr val="FFFFFF"/>
                </a:solidFill>
                <a:latin typeface="Calibri"/>
              </a:rPr>
              <a:t>kaṇṇan varum veṇulōlanāyi</a:t>
            </a:r>
            <a:endParaRPr lang="en-US" sz="63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000" smtClean="0">
                <a:solidFill>
                  <a:srgbClr val="FFFF00"/>
                </a:solidFill>
                <a:latin typeface="Calibri"/>
              </a:rPr>
              <a:t>Only when we cry out like Radha—with intense yearning and selfless love—will the Lord draw near, playing sweetly on his flute.</a:t>
            </a:r>
            <a:endParaRPr lang="en-US" sz="50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prāṇa-svarūpanām kaṇṇande gītaṅgaḷ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prāṇa-praṇavamām nādam ākum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500" smtClean="0">
                <a:solidFill>
                  <a:srgbClr val="FFFF00"/>
                </a:solidFill>
                <a:latin typeface="Calibri"/>
              </a:rPr>
              <a:t>Then the songs of Krishna, who is our true Self, will become like the Pranava mantra, resonating with every breath we take.</a:t>
            </a:r>
            <a:endParaRPr lang="en-US" sz="5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000" smtClean="0">
                <a:solidFill>
                  <a:srgbClr val="FFFFFF"/>
                </a:solidFill>
                <a:latin typeface="Calibri"/>
              </a:rPr>
              <a:t>poncilambin nāda-layaṅgaḷ en</a:t>
            </a:r>
            <a:br>
              <a:rPr lang="en-US" sz="6000" smtClean="0">
                <a:solidFill>
                  <a:srgbClr val="FFFFFF"/>
                </a:solidFill>
                <a:latin typeface="Calibri"/>
              </a:rPr>
            </a:br>
            <a:r>
              <a:rPr lang="en-US" sz="6000" smtClean="0">
                <a:solidFill>
                  <a:srgbClr val="FFFFFF"/>
                </a:solidFill>
                <a:latin typeface="Calibri"/>
              </a:rPr>
              <a:t>uḷḷil tuḍikkunna nādam ākum</a:t>
            </a:r>
            <a:endParaRPr lang="en-US" sz="60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The music of his golden anklets will echo as the rhythm of our heartbeat.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300" smtClean="0">
                <a:solidFill>
                  <a:srgbClr val="FFFFFF"/>
                </a:solidFill>
                <a:latin typeface="Calibri"/>
              </a:rPr>
              <a:t>jīva-svarūpamām kāṙōḷi-varṇṇande</a:t>
            </a:r>
            <a:br>
              <a:rPr lang="en-US" sz="6300" smtClean="0">
                <a:solidFill>
                  <a:srgbClr val="FFFFFF"/>
                </a:solidFill>
                <a:latin typeface="Calibri"/>
              </a:rPr>
            </a:br>
            <a:r>
              <a:rPr lang="en-US" sz="6300" smtClean="0">
                <a:solidFill>
                  <a:srgbClr val="FFFFFF"/>
                </a:solidFill>
                <a:latin typeface="Calibri"/>
              </a:rPr>
              <a:t>kāliṇa keṭṭi puṇarnnu pōyāl</a:t>
            </a:r>
            <a:endParaRPr lang="en-US" sz="63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If we hold firmly to his divine feet—he who is the life within all beings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300" smtClean="0">
                <a:solidFill>
                  <a:srgbClr val="FFFFFF"/>
                </a:solidFill>
                <a:latin typeface="Calibri"/>
              </a:rPr>
              <a:t>kaṇṇande kāruṇyam ēṙe teḷiññ-ennāl</a:t>
            </a:r>
            <a:br>
              <a:rPr lang="en-US" sz="6300" smtClean="0">
                <a:solidFill>
                  <a:srgbClr val="FFFFFF"/>
                </a:solidFill>
                <a:latin typeface="Calibri"/>
              </a:rPr>
            </a:br>
            <a:r>
              <a:rPr lang="en-US" sz="6300" smtClean="0">
                <a:solidFill>
                  <a:srgbClr val="FFFFFF"/>
                </a:solidFill>
                <a:latin typeface="Calibri"/>
              </a:rPr>
              <a:t>kāruṇya-pūrattil ottu cērām</a:t>
            </a:r>
            <a:endParaRPr lang="en-US" sz="63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—and if Krishna’s heart is moved by pure compassion, we can become one with his loving Self.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250</Words>
  <Application>Microsoft Office PowerPoint</Application>
  <PresentationFormat>On-screen Show (4:3)</PresentationFormat>
  <Paragraphs>23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kaṇṇande kāruṇyam kaṇḍāl aṙiyilla</vt:lpstr>
      <vt:lpstr>kaṇṇande kāruṇyam kaṇḍāl aṙiyilla kēṭṭālum oṭṭum aṙiyukīla</vt:lpstr>
      <vt:lpstr>ātmānubhūtiyāy kaṇṇan kaniññālē kāruṇya-pūram teḷiyuḷḷū</vt:lpstr>
      <vt:lpstr>ponmaṇi dīpam manassil teḷiyuvān saccidānandam nukarnnīḍuvān</vt:lpstr>
      <vt:lpstr>nāma-saṅkīrttana mālakaḷ cārttēṇam mānasa-sāndramām veṇṇa vēṇam</vt:lpstr>
      <vt:lpstr>uḷḷinde uḷḷam kaṙann-oru bhaktiyām paimbāl karutēṇam kaṇṇanāyi</vt:lpstr>
      <vt:lpstr>jīvanām rādhayāy kēṇu viḷiccālō kaṇṇan varum veṇulōlanāyi</vt:lpstr>
      <vt:lpstr>prāṇa-svarūpanām kaṇṇande gītaṅgaḷ prāṇa-praṇavamām nādam ākum</vt:lpstr>
      <vt:lpstr>poncilambin nāda-layaṅgaḷ en uḷḷil tuḍikkunna nādam ākum</vt:lpstr>
      <vt:lpstr>jīva-svarūpamām kāṙōḷi-varṇṇande kāliṇa keṭṭi puṇarnnu pōyāl</vt:lpstr>
      <vt:lpstr>kaṇṇande kāruṇyam ēṙe teḷiññ-ennāl kāruṇya-pūrattil ottu cērām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kaṇṇande kāruṇyam kaṇḍāl aṙiyilla</dc:title>
  <dc:creator>Amrita</dc:creator>
  <cp:lastModifiedBy>Amrita</cp:lastModifiedBy>
  <cp:revision>1</cp:revision>
  <dcterms:created xsi:type="dcterms:W3CDTF">2025-07-06T17:33:42Z</dcterms:created>
  <dcterms:modified xsi:type="dcterms:W3CDTF">2025-07-06T17:35:57Z</dcterms:modified>
</cp:coreProperties>
</file>